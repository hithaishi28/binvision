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61120" y="274320"/>
            <a:ext cx="3474720" cy="3474720"/>
          </a:xfrm>
          <a:prstGeom prst="roundRect">
            <a:avLst>
              <a:gd name="adj" fmla="val 12000"/>
            </a:avLst>
          </a:prstGeom>
          <a:solidFill>
            <a:srgbClr val="10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658368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400" b="1" i="0">
                <a:solidFill>
                  <a:srgbClr val="F5F8FC"/>
                </a:solidFill>
                <a:latin typeface="Aptos"/>
              </a:rPr>
              <a:t>BINVISION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600200"/>
            <a:ext cx="585216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F5F8FC"/>
                </a:solidFill>
                <a:latin typeface="Aptos"/>
              </a:rPr>
              <a:t>AI-Powered Waste Intelligence
&amp;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999232"/>
            <a:ext cx="333756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3095244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3022091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PS-1B  /  AI-DRIVEN WASTE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401568"/>
            <a:ext cx="214884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34975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3424428"/>
            <a:ext cx="18745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8C5C0"/>
                </a:solidFill>
                <a:latin typeface="Aptos"/>
              </a:rPr>
              <a:t>CLIMATE &amp;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89320"/>
            <a:ext cx="731520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Team: [TEAM NAME]   ·   [MEMBER 1]   ·   [MEMBER 2]   ·   [MEMBER 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216152"/>
            <a:ext cx="1325880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11696" y="143560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307592"/>
            <a:ext cx="66751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WASTE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00200"/>
            <a:ext cx="6675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image input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73568" y="1600200"/>
            <a:ext cx="402336" cy="0"/>
          </a:xfrm>
          <a:prstGeom prst="line">
            <a:avLst/>
          </a:prstGeom>
          <a:ln w="2540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03336" y="1216152"/>
            <a:ext cx="1417320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31352" y="143560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1307592"/>
            <a:ext cx="7589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1976" y="1600200"/>
            <a:ext cx="7589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detect + classify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75520" y="1600200"/>
            <a:ext cx="338328" cy="0"/>
          </a:xfrm>
          <a:prstGeom prst="line">
            <a:avLst/>
          </a:prstGeom>
          <a:ln w="25400">
            <a:solidFill>
              <a:srgbClr val="45D6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41280" y="960120"/>
            <a:ext cx="1143000" cy="133502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69296" y="1088136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0" y="1060704"/>
            <a:ext cx="6675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45D6A1"/>
                </a:solidFill>
                <a:latin typeface="Aptos"/>
              </a:rPr>
              <a:t>RECYCLE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69296" y="1463039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0" y="1435607"/>
            <a:ext cx="6675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F3BE5E"/>
                </a:solidFill>
                <a:latin typeface="Aptos"/>
              </a:rPr>
              <a:t>ORGANIC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69296" y="1837943"/>
            <a:ext cx="146304" cy="146304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1810512"/>
            <a:ext cx="6675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FF727C"/>
                </a:solidFill>
                <a:latin typeface="Aptos"/>
              </a:rPr>
              <a:t>HAZARD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084831"/>
            <a:ext cx="475488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See waste. Understand waste. Sort smarter.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2834640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29306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285750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RECYCLABLE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2834640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47888" y="29306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5048" y="285750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3BE5E"/>
                </a:solidFill>
                <a:latin typeface="Aptos"/>
              </a:rPr>
              <a:t>ORGANIC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29216" y="2834640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20656" y="29306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57816" y="285750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F727C"/>
                </a:solidFill>
                <a:latin typeface="Aptos"/>
              </a:rPr>
              <a:t>HAZARDOUS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767328"/>
            <a:ext cx="4800600" cy="1353312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9712" y="4023360"/>
            <a:ext cx="9144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CLASS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4023360"/>
            <a:ext cx="1097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CONFIDENCE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4023360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9712" y="4407408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Structured detections, ready for 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010912"/>
            <a:ext cx="5669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45D6A1"/>
                </a:solidFill>
                <a:latin typeface="Aptos"/>
              </a:rPr>
              <a:t>Software intelligence for better sorting decisions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Mixed waste creates an identification gap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71600"/>
            <a:ext cx="104241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Sorting decisions are made with incomplete visual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38528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938528"/>
            <a:ext cx="50292" cy="1024128"/>
          </a:xfrm>
          <a:prstGeom prst="rect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Mixed 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51176"/>
            <a:ext cx="21945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DAEC2"/>
                </a:solidFill>
                <a:latin typeface="Aptos"/>
              </a:rPr>
              <a:t>One image can contain several waste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1938528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38144" y="1938528"/>
            <a:ext cx="50292" cy="1024128"/>
          </a:xfrm>
          <a:prstGeom prst="rect">
            <a:avLst/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121408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Contamination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551176"/>
            <a:ext cx="21945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DAEC2"/>
                </a:solidFill>
                <a:latin typeface="Aptos"/>
              </a:rPr>
              <a:t>Misidentification can compromise recyclable material.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154680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154680"/>
            <a:ext cx="50292" cy="1024128"/>
          </a:xfrm>
          <a:prstGeom prst="rect">
            <a:avLst/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Hazard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21945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DAEC2"/>
                </a:solidFill>
                <a:latin typeface="Aptos"/>
              </a:rPr>
              <a:t>Batteries and chemical containers need careful handling.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38144" y="3154680"/>
            <a:ext cx="2578608" cy="1024128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8144" y="3154680"/>
            <a:ext cx="50292" cy="1024128"/>
          </a:xfrm>
          <a:prstGeom prst="rect">
            <a:avLst/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39312" y="3337560"/>
            <a:ext cx="219456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Inconsistent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67328"/>
            <a:ext cx="21945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DAEC2"/>
                </a:solidFill>
                <a:latin typeface="Aptos"/>
              </a:rPr>
              <a:t>Manual identification varies across people and moments.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91456"/>
            <a:ext cx="2267712" cy="83210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6384" y="5038344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52144" y="4882896"/>
            <a:ext cx="160020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MIXED WASTE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71800" y="5212080"/>
            <a:ext cx="420624" cy="0"/>
          </a:xfrm>
          <a:prstGeom prst="line">
            <a:avLst/>
          </a:prstGeom>
          <a:ln w="16510">
            <a:solidFill>
              <a:srgbClr val="9D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93008" y="4791456"/>
            <a:ext cx="2267712" cy="83210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39312" y="5038344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4882896"/>
            <a:ext cx="160020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IDENTIFICATION
CHALLENGE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824728" y="5212080"/>
            <a:ext cx="420624" cy="0"/>
          </a:xfrm>
          <a:prstGeom prst="line">
            <a:avLst/>
          </a:prstGeom>
          <a:ln w="16510">
            <a:solidFill>
              <a:srgbClr val="9D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45936" y="4791456"/>
            <a:ext cx="2267712" cy="83210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92240" y="5038344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4882896"/>
            <a:ext cx="160020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SORTING ERROR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677656" y="5212080"/>
            <a:ext cx="420624" cy="0"/>
          </a:xfrm>
          <a:prstGeom prst="line">
            <a:avLst/>
          </a:prstGeom>
          <a:ln w="16510">
            <a:solidFill>
              <a:srgbClr val="9DAE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198863" y="4791456"/>
            <a:ext cx="2267712" cy="83210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45167" y="5038344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10928" y="4882896"/>
            <a:ext cx="1600200" cy="6035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MATERIAL
RECOVERY AT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5925312"/>
            <a:ext cx="98755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9DAEC2"/>
                </a:solidFill>
                <a:latin typeface="Aptos"/>
              </a:rPr>
              <a:t>A clear visual explanation can help people make more informed sorting choices.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BinVision turns an image into an explainable result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A software intelligence layer for smarter waste-sorting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11680"/>
            <a:ext cx="1627632" cy="124358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167128"/>
            <a:ext cx="39319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87168"/>
            <a:ext cx="133502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Waste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926080"/>
            <a:ext cx="129844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Upload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2633472"/>
            <a:ext cx="164592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05456" y="2011680"/>
            <a:ext cx="1627632" cy="124358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167128"/>
            <a:ext cx="39319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87168"/>
            <a:ext cx="133502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AI vision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926080"/>
            <a:ext cx="129844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Detect objects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9664" y="2633472"/>
            <a:ext cx="164592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011680"/>
            <a:ext cx="1627632" cy="124358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2167128"/>
            <a:ext cx="39319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487168"/>
            <a:ext cx="133502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Category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926080"/>
            <a:ext cx="129844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Three outputs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53328" y="2633472"/>
            <a:ext cx="164592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72783" y="2011680"/>
            <a:ext cx="1627632" cy="124358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167128"/>
            <a:ext cx="39319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2487168"/>
            <a:ext cx="133502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Confidence + 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926080"/>
            <a:ext cx="129844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Show evidence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36992" y="2633472"/>
            <a:ext cx="164591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56448" y="2011680"/>
            <a:ext cx="1627632" cy="124358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2167128"/>
            <a:ext cx="39319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2487168"/>
            <a:ext cx="133502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Results &amp;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926080"/>
            <a:ext cx="129844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Summarize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820656" y="2633472"/>
            <a:ext cx="164592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040112" y="2011680"/>
            <a:ext cx="1627632" cy="124358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6416" y="2167128"/>
            <a:ext cx="393192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86416" y="2487168"/>
            <a:ext cx="1335024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2926080"/>
            <a:ext cx="129844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Explain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3858768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51560" y="39547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3881628"/>
            <a:ext cx="123443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Recyclable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88920" y="3858768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880360" y="39547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3881628"/>
            <a:ext cx="123443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3BE5E"/>
                </a:solidFill>
                <a:latin typeface="Aptos"/>
              </a:rPr>
              <a:t>Organic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17720" y="3858768"/>
            <a:ext cx="150876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09159" y="395478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881628"/>
            <a:ext cx="1234439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F727C"/>
                </a:solidFill>
                <a:latin typeface="Aptos"/>
              </a:rPr>
              <a:t>Hazardous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01968" y="3730752"/>
            <a:ext cx="4800600" cy="1417320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01968" y="3730752"/>
            <a:ext cx="50292" cy="1417320"/>
          </a:xfrm>
          <a:prstGeom prst="rect">
            <a:avLst/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03136" y="3877056"/>
            <a:ext cx="443484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8C5C0"/>
                </a:solidFill>
                <a:latin typeface="Aptos"/>
              </a:rPr>
              <a:t>FRONTEND CONTRACT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4041648"/>
            <a:ext cx="4416552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One stable response shape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3136" y="4453128"/>
            <a:ext cx="4416552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9DAEC2"/>
                </a:solidFill>
                <a:latin typeface="Aptos"/>
              </a:rPr>
              <a:t>Class  ·  Category  ·  Confidence  ·  Bounding box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5577840"/>
            <a:ext cx="1051560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9DAEC2"/>
                </a:solidFill>
                <a:latin typeface="Aptos"/>
              </a:rPr>
              <a:t>Model internals can evolve while the product UI keeps a consistent detection format.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From upload to useful guidance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527048"/>
            <a:ext cx="1389888" cy="932688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36776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76272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9DAEC2"/>
                </a:solidFill>
                <a:latin typeface="Aptos"/>
              </a:rPr>
              <a:t>Image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20824" y="1993392"/>
            <a:ext cx="164592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40280" y="1527048"/>
            <a:ext cx="1389888" cy="932688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68296" y="1636776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68296" y="1874519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68296" y="2176272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9DAEC2"/>
                </a:solidFill>
                <a:latin typeface="Aptos"/>
              </a:rPr>
              <a:t>Check image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57600" y="1993392"/>
            <a:ext cx="164591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77056" y="1527048"/>
            <a:ext cx="1389888" cy="932688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1636776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1874519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176272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9DAEC2"/>
                </a:solidFill>
                <a:latin typeface="Aptos"/>
              </a:rPr>
              <a:t>Start request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94376" y="1993392"/>
            <a:ext cx="164592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513832" y="1527048"/>
            <a:ext cx="1389888" cy="932688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1636776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1874519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Detect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2176272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9DAEC2"/>
                </a:solidFill>
                <a:latin typeface="Aptos"/>
              </a:rPr>
              <a:t>Find objects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31152" y="1993392"/>
            <a:ext cx="164592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50608" y="1527048"/>
            <a:ext cx="1389888" cy="932688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8624" y="1636776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8624" y="1874519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Classify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8624" y="2176272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9DAEC2"/>
                </a:solidFill>
                <a:latin typeface="Aptos"/>
              </a:rPr>
              <a:t>Assign category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67928" y="1993392"/>
            <a:ext cx="164592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787384" y="1527048"/>
            <a:ext cx="1389888" cy="932688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1636776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1874519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176272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9DAEC2"/>
                </a:solidFill>
                <a:latin typeface="Aptos"/>
              </a:rPr>
              <a:t>Read results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204704" y="1993392"/>
            <a:ext cx="164592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424160" y="1527048"/>
            <a:ext cx="1389888" cy="932688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52176" y="1636776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52176" y="1874519"/>
            <a:ext cx="1152144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Ask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52176" y="2176272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9DAEC2"/>
                </a:solidFill>
                <a:latin typeface="Aptos"/>
              </a:rPr>
              <a:t>Get guidance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2898648"/>
            <a:ext cx="6784848" cy="2962656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3108960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DAEC2"/>
                </a:solidFill>
                <a:latin typeface="Aptos"/>
              </a:rPr>
              <a:t>AI DETECTION PREVIEW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" y="3493008"/>
            <a:ext cx="3822191" cy="1883664"/>
          </a:xfrm>
          <a:prstGeom prst="roundRect">
            <a:avLst>
              <a:gd name="adj" fmla="val 12000"/>
            </a:avLst>
          </a:prstGeom>
          <a:solidFill>
            <a:srgbClr val="1C2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157984" y="3730752"/>
            <a:ext cx="749808" cy="1280160"/>
          </a:xfrm>
          <a:prstGeom prst="roundRect">
            <a:avLst>
              <a:gd name="adj" fmla="val 12000"/>
            </a:avLst>
          </a:prstGeom>
          <a:solidFill>
            <a:srgbClr val="405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2249424" y="3575304"/>
            <a:ext cx="557784" cy="201168"/>
          </a:xfrm>
          <a:prstGeom prst="roundRect">
            <a:avLst>
              <a:gd name="adj" fmla="val 12000"/>
            </a:avLst>
          </a:prstGeom>
          <a:solidFill>
            <a:srgbClr val="C6D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65960" y="3648456"/>
            <a:ext cx="1115568" cy="1499616"/>
          </a:xfrm>
          <a:prstGeom prst="rect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124712" y="4343400"/>
            <a:ext cx="576072" cy="566928"/>
          </a:xfrm>
          <a:prstGeom prst="roundRect">
            <a:avLst>
              <a:gd name="adj" fmla="val 12000"/>
            </a:avLst>
          </a:prstGeom>
          <a:solidFill>
            <a:srgbClr val="B68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438144" y="4407408"/>
            <a:ext cx="804672" cy="493776"/>
          </a:xfrm>
          <a:prstGeom prst="roundRect">
            <a:avLst>
              <a:gd name="adj" fmla="val 12000"/>
            </a:avLst>
          </a:prstGeom>
          <a:solidFill>
            <a:srgbClr val="768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69848" y="5431536"/>
            <a:ext cx="246888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61288" y="5527548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98448" y="5454396"/>
            <a:ext cx="21945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Plastic bottle  ·  demo bbox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80" y="3291840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9DAEC2"/>
                </a:solidFill>
                <a:latin typeface="Aptos"/>
              </a:rPr>
              <a:t>DEMO SUMMARY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10912" y="3639312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Detected items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3639312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F5F8FC"/>
                </a:solidFill>
                <a:latin typeface="Aptos"/>
              </a:rPr>
              <a:t>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10912" y="4032504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Avg confidence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37960" y="4032504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38C5C0"/>
                </a:solidFill>
                <a:latin typeface="Aptos"/>
              </a:rPr>
              <a:t>89%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10912" y="4425696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Recyclable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4425696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45D6A1"/>
                </a:solidFill>
                <a:latin typeface="Aptos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10912" y="4818888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Organic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4818888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F3BE5E"/>
                </a:solidFill>
                <a:latin typeface="Aptos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10912" y="5212080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Hazardous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5212080"/>
            <a:ext cx="53035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1100" b="1" i="0">
                <a:solidFill>
                  <a:srgbClr val="FF727C"/>
                </a:solidFill>
                <a:latin typeface="Aptos"/>
              </a:rPr>
              <a:t>1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08392" y="2898648"/>
            <a:ext cx="3675887" cy="2962656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91856" y="3136392"/>
            <a:ext cx="301752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DAEC2"/>
                </a:solidFill>
                <a:latin typeface="Aptos"/>
              </a:rPr>
              <a:t>RESULT SIGNALS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019288" y="3584448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80" y="3575304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Recyclable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04120" y="3584448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9DAEC2"/>
                </a:solidFill>
                <a:latin typeface="Aptos"/>
              </a:rPr>
              <a:t>count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19288" y="4224528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4215384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Organic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04120" y="4224528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9DAEC2"/>
                </a:solidFill>
                <a:latin typeface="Aptos"/>
              </a:rPr>
              <a:t>count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19288" y="4864608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0" y="4855464"/>
            <a:ext cx="14630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Hazardous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04120" y="4864608"/>
            <a:ext cx="7315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9DAEC2"/>
                </a:solidFill>
                <a:latin typeface="Aptos"/>
              </a:rPr>
              <a:t>count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8431" y="5486400"/>
            <a:ext cx="288036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Confidence + bounding box + category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 product flow built around the user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45D6A1"/>
                </a:solidFill>
                <a:latin typeface="Aptos"/>
              </a:rPr>
              <a:t>Dashboard  ·  Detection  ·  Results  · 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3511296" cy="4069080"/>
          </a:xfrm>
          <a:prstGeom prst="roundRect">
            <a:avLst>
              <a:gd name="adj" fmla="val 12000"/>
            </a:avLst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783080"/>
            <a:ext cx="3511296" cy="457200"/>
          </a:xfrm>
          <a:prstGeom prst="roundRect">
            <a:avLst>
              <a:gd name="adj" fmla="val 12000"/>
            </a:avLst>
          </a:prstGeom>
          <a:solidFill>
            <a:srgbClr val="152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01952"/>
            <a:ext cx="118872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BinVision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210312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32338"/>
                </a:solidFill>
                <a:latin typeface="Aptos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34056"/>
            <a:ext cx="260604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71849A"/>
                </a:solidFill>
                <a:latin typeface="Aptos"/>
              </a:rPr>
              <a:t>DEMO VALUES  ·  LOCAL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2907792"/>
            <a:ext cx="12984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990088"/>
            <a:ext cx="109728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5D7085"/>
                </a:solidFill>
                <a:latin typeface="Aptos"/>
              </a:rPr>
              <a:t>Objects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191256"/>
            <a:ext cx="5943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45D6A1"/>
                </a:solidFill>
                <a:latin typeface="Aptos"/>
              </a:rPr>
              <a:t>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22576" y="2907792"/>
            <a:ext cx="12984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14016" y="2990088"/>
            <a:ext cx="109728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5D7085"/>
                </a:solidFill>
                <a:latin typeface="Aptos"/>
              </a:rPr>
              <a:t>Recyclable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3191256"/>
            <a:ext cx="5943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45D6A1"/>
                </a:solidFill>
                <a:latin typeface="Aptos"/>
              </a:rPr>
              <a:t>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712464"/>
            <a:ext cx="12984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794760"/>
            <a:ext cx="109728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5D7085"/>
                </a:solidFill>
                <a:latin typeface="Aptos"/>
              </a:rPr>
              <a:t>Organic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3995928"/>
            <a:ext cx="5943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3BE5E"/>
                </a:solidFill>
                <a:latin typeface="Aptos"/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22576" y="3712464"/>
            <a:ext cx="1298448" cy="621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14016" y="3794760"/>
            <a:ext cx="1097280" cy="1371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5D7085"/>
                </a:solidFill>
                <a:latin typeface="Aptos"/>
              </a:rPr>
              <a:t>Hazardous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95928"/>
            <a:ext cx="59436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FF727C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45152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32338"/>
                </a:solidFill>
                <a:latin typeface="Aptos"/>
              </a:rPr>
              <a:t>Recent sessions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" y="4965192"/>
            <a:ext cx="2907792" cy="256032"/>
          </a:xfrm>
          <a:prstGeom prst="roundRect">
            <a:avLst>
              <a:gd name="adj" fmla="val 12000"/>
            </a:avLst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992624"/>
            <a:ext cx="25603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55687D"/>
                </a:solidFill>
                <a:latin typeface="Aptos"/>
              </a:rPr>
              <a:t>Kitchen mix · Demo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" y="5340096"/>
            <a:ext cx="2907792" cy="256032"/>
          </a:xfrm>
          <a:prstGeom prst="roundRect">
            <a:avLst>
              <a:gd name="adj" fmla="val 12000"/>
            </a:avLst>
          </a:prstGeom>
          <a:solidFill>
            <a:srgbClr val="DC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367528"/>
            <a:ext cx="256032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0">
                <a:solidFill>
                  <a:srgbClr val="55687D"/>
                </a:solidFill>
                <a:latin typeface="Aptos"/>
              </a:rPr>
              <a:t>Campus sample · Demo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1783080"/>
            <a:ext cx="3877056" cy="4069080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2011680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Detection workspace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45152" y="2487168"/>
            <a:ext cx="3355848" cy="2084831"/>
          </a:xfrm>
          <a:prstGeom prst="roundRect">
            <a:avLst>
              <a:gd name="adj" fmla="val 12000"/>
            </a:avLst>
          </a:prstGeom>
          <a:solidFill>
            <a:srgbClr val="1B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687568" y="2852928"/>
            <a:ext cx="832104" cy="1353312"/>
          </a:xfrm>
          <a:prstGeom prst="roundRect">
            <a:avLst>
              <a:gd name="adj" fmla="val 12000"/>
            </a:avLst>
          </a:prstGeom>
          <a:solidFill>
            <a:srgbClr val="405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79008" y="2706624"/>
            <a:ext cx="640080" cy="192024"/>
          </a:xfrm>
          <a:prstGeom prst="roundRect">
            <a:avLst>
              <a:gd name="adj" fmla="val 12000"/>
            </a:avLst>
          </a:prstGeom>
          <a:solidFill>
            <a:srgbClr val="CDD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41264" y="2743200"/>
            <a:ext cx="1133856" cy="1609344"/>
          </a:xfrm>
          <a:prstGeom prst="rect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702552" y="3429000"/>
            <a:ext cx="676656" cy="566928"/>
          </a:xfrm>
          <a:prstGeom prst="roundRect">
            <a:avLst>
              <a:gd name="adj" fmla="val 12000"/>
            </a:avLst>
          </a:prstGeom>
          <a:solidFill>
            <a:srgbClr val="9D7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46904" y="3767328"/>
            <a:ext cx="512064" cy="475488"/>
          </a:xfrm>
          <a:prstGeom prst="roundRect">
            <a:avLst>
              <a:gd name="adj" fmla="val 12000"/>
            </a:avLst>
          </a:prstGeom>
          <a:solidFill>
            <a:srgbClr val="637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4709160"/>
            <a:ext cx="11430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AI box 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663440"/>
            <a:ext cx="1261872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20840" y="4759452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686300"/>
            <a:ext cx="98755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Analyze image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5303520"/>
            <a:ext cx="32004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Original / AI Detection toggle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22208" y="1783080"/>
            <a:ext cx="2852928" cy="4069080"/>
          </a:xfrm>
          <a:prstGeom prst="roundRect">
            <a:avLst>
              <a:gd name="adj" fmla="val 12000"/>
            </a:avLst>
          </a:prstGeom>
          <a:solidFill>
            <a:srgbClr val="EA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9952" y="201168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132338"/>
                </a:solidFill>
                <a:latin typeface="Aptos"/>
              </a:rPr>
              <a:t>Results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2386584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5D7085"/>
                </a:solidFill>
                <a:latin typeface="Aptos"/>
              </a:rPr>
              <a:t>6 detected items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9952" y="2834640"/>
            <a:ext cx="23317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15400" y="2907792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32338"/>
                </a:solidFill>
                <a:latin typeface="Aptos"/>
              </a:rPr>
              <a:t>Plastic bottle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15400" y="3163824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06840" y="3259836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3186684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Recyclable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59952" y="3593592"/>
            <a:ext cx="23317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3666744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32338"/>
                </a:solidFill>
                <a:latin typeface="Aptos"/>
              </a:rPr>
              <a:t>Banana peel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15400" y="3922776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006840" y="40187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3945636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3BE5E"/>
                </a:solidFill>
                <a:latin typeface="Aptos"/>
              </a:rPr>
              <a:t>Organic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59952" y="4352544"/>
            <a:ext cx="2331720" cy="612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15400" y="4425696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32338"/>
                </a:solidFill>
                <a:latin typeface="Aptos"/>
              </a:rPr>
              <a:t>Battery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15400" y="4681728"/>
            <a:ext cx="1024128" cy="283464"/>
          </a:xfrm>
          <a:prstGeom prst="roundRect">
            <a:avLst>
              <a:gd name="adj" fmla="val 12000"/>
            </a:avLst>
          </a:prstGeom>
          <a:solidFill>
            <a:srgbClr val="ED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9006840" y="47777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44000" y="4704588"/>
            <a:ext cx="74980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F727C"/>
                </a:solidFill>
                <a:latin typeface="Aptos"/>
              </a:rPr>
              <a:t>Hazardous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96528" y="5303520"/>
            <a:ext cx="201168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0" i="1">
                <a:solidFill>
                  <a:srgbClr val="74849A"/>
                </a:solidFill>
                <a:latin typeface="Aptos"/>
              </a:rPr>
              <a:t>Demo values shown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AI WASTE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Every detection carries context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38C5C0"/>
                </a:solidFill>
                <a:latin typeface="Aptos"/>
              </a:rPr>
              <a:t>Example only  ·  Plastic bottle  ·  Recyclable  ·  94%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83080"/>
            <a:ext cx="5047488" cy="4160520"/>
          </a:xfrm>
          <a:prstGeom prst="roundRect">
            <a:avLst>
              <a:gd name="adj" fmla="val 12000"/>
            </a:avLst>
          </a:prstGeom>
          <a:solidFill>
            <a:srgbClr val="172534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34440" y="2231136"/>
            <a:ext cx="3822191" cy="2788920"/>
          </a:xfrm>
          <a:prstGeom prst="roundRect">
            <a:avLst>
              <a:gd name="adj" fmla="val 12000"/>
            </a:avLst>
          </a:prstGeom>
          <a:solidFill>
            <a:srgbClr val="344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80" y="2688336"/>
            <a:ext cx="905256" cy="1856231"/>
          </a:xfrm>
          <a:prstGeom prst="roundRect">
            <a:avLst>
              <a:gd name="adj" fmla="val 12000"/>
            </a:avLst>
          </a:prstGeom>
          <a:solidFill>
            <a:srgbClr val="447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52928" y="2514600"/>
            <a:ext cx="594360" cy="256032"/>
          </a:xfrm>
          <a:prstGeom prst="roundRect">
            <a:avLst>
              <a:gd name="adj" fmla="val 12000"/>
            </a:avLst>
          </a:prstGeom>
          <a:solidFill>
            <a:srgbClr val="C7D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8" y="2587752"/>
            <a:ext cx="1234440" cy="2093976"/>
          </a:xfrm>
          <a:prstGeom prst="rect">
            <a:avLst/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1176" y="2368296"/>
            <a:ext cx="1143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plastic bottle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78224" y="3401568"/>
            <a:ext cx="530352" cy="384048"/>
          </a:xfrm>
          <a:prstGeom prst="roundRect">
            <a:avLst>
              <a:gd name="adj" fmla="val 12000"/>
            </a:avLst>
          </a:prstGeom>
          <a:solidFill>
            <a:srgbClr val="C48A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30952"/>
            <a:ext cx="41148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9DAEC2"/>
                </a:solidFill>
                <a:latin typeface="Aptos"/>
              </a:rPr>
              <a:t>Illustrative detection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956816"/>
            <a:ext cx="12435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DAEC2"/>
                </a:solidFill>
                <a:latin typeface="Aptos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7" y="1956816"/>
            <a:ext cx="32186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F5F8FC"/>
                </a:solidFill>
                <a:latin typeface="Aptos"/>
              </a:rPr>
              <a:t>Plastic bottle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2615184"/>
            <a:ext cx="12435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DAEC2"/>
                </a:solidFill>
                <a:latin typeface="Aptos"/>
              </a:rP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615184"/>
            <a:ext cx="32186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45D6A1"/>
                </a:solidFill>
                <a:latin typeface="Aptos"/>
              </a:rPr>
              <a:t>Recyclable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3273552"/>
            <a:ext cx="12435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DAEC2"/>
                </a:solidFill>
                <a:latin typeface="Aptos"/>
              </a:rPr>
              <a:t>Confidence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273552"/>
            <a:ext cx="32186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38C5C0"/>
                </a:solidFill>
                <a:latin typeface="Aptos"/>
              </a:rPr>
              <a:t>94%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3931920"/>
            <a:ext cx="124358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9DAEC2"/>
                </a:solidFill>
                <a:latin typeface="Aptos"/>
              </a:rPr>
              <a:t>Bounding 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3931920"/>
            <a:ext cx="3218688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7AA7FF"/>
                </a:solidFill>
                <a:latin typeface="Aptos"/>
              </a:rPr>
              <a:t>[x1, y1, x2, y2]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35040" y="4736592"/>
            <a:ext cx="5138928" cy="0"/>
          </a:xfrm>
          <a:prstGeom prst="line">
            <a:avLst/>
          </a:prstGeom>
          <a:ln w="10160">
            <a:solidFill>
              <a:srgbClr val="29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62472" y="4919472"/>
            <a:ext cx="117043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F5F8FC"/>
                </a:solidFill>
                <a:latin typeface="Aptos"/>
              </a:rPr>
              <a:t>YOLO / Vision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4919472"/>
            <a:ext cx="107899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Model adapter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919472"/>
            <a:ext cx="107899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BinVision UI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0" y="5102352"/>
            <a:ext cx="182879" cy="0"/>
          </a:xfrm>
          <a:prstGeom prst="line">
            <a:avLst/>
          </a:prstGeom>
          <a:ln w="1524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723376" y="5102352"/>
            <a:ext cx="1170432" cy="0"/>
          </a:xfrm>
          <a:prstGeom prst="line">
            <a:avLst/>
          </a:prstGeom>
          <a:ln w="1524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62472" y="5577840"/>
            <a:ext cx="5120640" cy="365760"/>
          </a:xfrm>
          <a:prstGeom prst="roundRect">
            <a:avLst>
              <a:gd name="adj" fmla="val 12000"/>
            </a:avLst>
          </a:prstGeom>
          <a:solidFill>
            <a:srgbClr val="2A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5650992"/>
            <a:ext cx="482803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3BE5E"/>
                </a:solidFill>
                <a:latin typeface="Aptos"/>
              </a:rPr>
              <a:t>Frontend defaults to mock data; final model output must be validated.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BINVISION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Ask your waste data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2984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F5F8FC"/>
                </a:solidFill>
                <a:latin typeface="Aptos"/>
              </a:rPr>
              <a:t>Context-aware explanations and practical sorting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773936"/>
            <a:ext cx="5788152" cy="4279392"/>
          </a:xfrm>
          <a:prstGeom prst="roundRect">
            <a:avLst>
              <a:gd name="adj" fmla="val 12000"/>
            </a:avLst>
          </a:prstGeom>
          <a:solidFill>
            <a:srgbClr val="121E2E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773936"/>
            <a:ext cx="5788152" cy="521207"/>
          </a:xfrm>
          <a:prstGeom prst="roundRect">
            <a:avLst>
              <a:gd name="adj" fmla="val 12000"/>
            </a:avLst>
          </a:prstGeom>
          <a:solidFill>
            <a:srgbClr val="17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1929384"/>
            <a:ext cx="201168" cy="201168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1901952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BinVision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92807"/>
            <a:ext cx="169164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1988819"/>
            <a:ext cx="82296" cy="822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15667"/>
            <a:ext cx="141732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8C5C0"/>
                </a:solidFill>
                <a:latin typeface="Aptos"/>
              </a:rPr>
              <a:t>DETECTION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2578608"/>
            <a:ext cx="3291840" cy="585216"/>
          </a:xfrm>
          <a:prstGeom prst="roundRect">
            <a:avLst>
              <a:gd name="adj" fmla="val 12000"/>
            </a:avLst>
          </a:prstGeom>
          <a:solidFill>
            <a:srgbClr val="183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2651760"/>
            <a:ext cx="301752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5F8FC"/>
                </a:solidFill>
                <a:latin typeface="Aptos"/>
              </a:rPr>
              <a:t>Why is this item classified as hazardous?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" y="3346704"/>
            <a:ext cx="5074920" cy="1078992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419856"/>
            <a:ext cx="4800600" cy="9326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5F8FC"/>
                </a:solidFill>
                <a:latin typeface="Aptos"/>
              </a:rPr>
              <a:t>This detection is labeled hazardous in the current analysis. Check the item label and local collection guidance before disposing of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37176"/>
            <a:ext cx="1344168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49331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860036"/>
            <a:ext cx="10698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Explain results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4837176"/>
            <a:ext cx="141732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468880" y="49331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4860036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How to dispose?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3632" y="4837176"/>
            <a:ext cx="1810512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05072" y="4933188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42232" y="4860036"/>
            <a:ext cx="1536192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What is confidence?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404104"/>
            <a:ext cx="5120640" cy="420624"/>
          </a:xfrm>
          <a:prstGeom prst="roundRect">
            <a:avLst>
              <a:gd name="adj" fmla="val 12000"/>
            </a:avLst>
          </a:prstGeom>
          <a:solidFill>
            <a:srgbClr val="0D1725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495544"/>
            <a:ext cx="347472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Ask about this analysis…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48272" y="1773936"/>
            <a:ext cx="4617720" cy="4279392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057400"/>
            <a:ext cx="38404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ASSISTANT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68312" y="2532888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2514600"/>
            <a:ext cx="33375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Explain a classification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761488"/>
            <a:ext cx="33375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Use the structured detection 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68312" y="3200400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0" y="3182112"/>
            <a:ext cx="33375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Interpret confidence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3429000"/>
            <a:ext cx="33375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Clarify what the score represents.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68312" y="3867912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3849624"/>
            <a:ext cx="33375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Offer sorting guidance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4096512"/>
            <a:ext cx="33375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Suggest responsible next steps.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68312" y="4535424"/>
            <a:ext cx="219456" cy="219456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52360" y="4517136"/>
            <a:ext cx="33375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Keep recent conversation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4764024"/>
            <a:ext cx="3337560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Carry the latest turns in the session.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068312" y="5340096"/>
            <a:ext cx="3950208" cy="0"/>
          </a:xfrm>
          <a:prstGeom prst="line">
            <a:avLst/>
          </a:prstGeom>
          <a:ln w="10160">
            <a:solidFill>
              <a:srgbClr val="29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086600" y="5504688"/>
            <a:ext cx="38587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UI → FastAPI /api/chat → Groq → response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5815584"/>
            <a:ext cx="310896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Groq key stays server-side.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 clear boundary between product and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463040"/>
            <a:ext cx="6675120" cy="453542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91640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45D6A1"/>
                </a:solidFill>
                <a:latin typeface="Aptos"/>
              </a:rPr>
              <a:t>WASTE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39696"/>
            <a:ext cx="1298448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2416" y="2359152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231136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WEB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23744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React / 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139696"/>
            <a:ext cx="1298448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34056" y="2359152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231136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523744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/api/analyze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139696"/>
            <a:ext cx="1298448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25696" y="2359152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231136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YOLO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523744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adapter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25312" y="2139696"/>
            <a:ext cx="1261872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53328" y="2359152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231136"/>
            <a:ext cx="603503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523744"/>
            <a:ext cx="603503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49424" y="2523744"/>
            <a:ext cx="320040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941063" y="2523744"/>
            <a:ext cx="329185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32704" y="2523744"/>
            <a:ext cx="256032" cy="0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32688" y="3163824"/>
            <a:ext cx="2048256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5F8FC"/>
                </a:solidFill>
                <a:latin typeface="Aptos"/>
              </a:rPr>
              <a:t>WasteAnalysisResponse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" y="3575304"/>
            <a:ext cx="1335024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3272" y="36713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2" y="3598164"/>
            <a:ext cx="106070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5F8FC"/>
                </a:solidFill>
                <a:latin typeface="Aptos"/>
              </a:rPr>
              <a:t>class_name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68296" y="3575304"/>
            <a:ext cx="1335024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59736" y="36713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896" y="3598164"/>
            <a:ext cx="106070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category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94760" y="3575304"/>
            <a:ext cx="1335024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886200" y="36713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60" y="3598164"/>
            <a:ext cx="106070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8C5C0"/>
                </a:solidFill>
                <a:latin typeface="Aptos"/>
              </a:rPr>
              <a:t>confidence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21224" y="3575304"/>
            <a:ext cx="1335024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312664" y="36713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49824" y="3598164"/>
            <a:ext cx="1060704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7AA7FF"/>
                </a:solidFill>
                <a:latin typeface="Aptos"/>
              </a:rPr>
              <a:t>bbox [x1,y1,x2,y2]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1832" y="4206240"/>
            <a:ext cx="5952744" cy="0"/>
          </a:xfrm>
          <a:prstGeom prst="line">
            <a:avLst/>
          </a:prstGeom>
          <a:ln w="10160">
            <a:solidFill>
              <a:srgbClr val="2943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50976" y="4489704"/>
            <a:ext cx="1298448" cy="283464"/>
          </a:xfrm>
          <a:prstGeom prst="roundRect">
            <a:avLst>
              <a:gd name="adj" fmla="val 12000"/>
            </a:avLst>
          </a:prstGeom>
          <a:solidFill>
            <a:srgbClr val="2A2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42416" y="45857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9576" y="4512564"/>
            <a:ext cx="1024127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3BE5E"/>
                </a:solidFill>
                <a:latin typeface="Aptos"/>
              </a:rPr>
              <a:t>DEMO DEFAULT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87168" y="4507992"/>
            <a:ext cx="417880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Mock provider + local session analytics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976" y="5038344"/>
            <a:ext cx="155448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42416" y="5134356"/>
            <a:ext cx="82296" cy="822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9576" y="5061204"/>
            <a:ext cx="128016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8C5C0"/>
                </a:solidFill>
                <a:latin typeface="Aptos"/>
              </a:rPr>
              <a:t>INTEGRATION PATH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24912" y="5056632"/>
            <a:ext cx="3877056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API selector + FastAPI route + model adapter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89520" y="1463040"/>
            <a:ext cx="3794760" cy="4535424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82127" y="1691640"/>
            <a:ext cx="21945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38C5C0"/>
                </a:solidFill>
                <a:latin typeface="Aptos"/>
              </a:rPr>
              <a:t>AI ASSISTANT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45552" y="2267712"/>
            <a:ext cx="1298448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973568" y="248716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2" y="2359152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CHAT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2651760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context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82328" y="2267712"/>
            <a:ext cx="1298448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610344" y="2487168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30967" y="2359152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30967" y="2651760"/>
            <a:ext cx="64008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/api/chat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778240" y="3529584"/>
            <a:ext cx="1225296" cy="76809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906256" y="3749039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26880" y="3621024"/>
            <a:ext cx="566928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GROQ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913632"/>
            <a:ext cx="56692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server key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098280" y="3063240"/>
            <a:ext cx="137160" cy="402336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9692640" y="3063240"/>
            <a:ext cx="438912" cy="402336"/>
          </a:xfrm>
          <a:prstGeom prst="line">
            <a:avLst/>
          </a:prstGeom>
          <a:ln w="1905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973568" y="4361688"/>
            <a:ext cx="3035808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5F8FC"/>
                </a:solidFill>
                <a:latin typeface="Aptos"/>
              </a:rPr>
              <a:t>Structured context, recent turns, answer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00416" y="5138928"/>
            <a:ext cx="3108960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9DAEC2"/>
                </a:solidFill>
                <a:latin typeface="Aptos"/>
              </a:rPr>
              <a:t>Implemented routes and UI; final deployment depends on service/model configuration.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686032" y="-146304"/>
            <a:ext cx="658368" cy="658368"/>
          </a:xfrm>
          <a:prstGeom prst="roundRect">
            <a:avLst>
              <a:gd name="adj" fmla="val 12000"/>
            </a:avLst>
          </a:prstGeom>
          <a:solidFill>
            <a:srgbClr val="11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73152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IMPACT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88136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Build toward better sorting decisions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6510528"/>
            <a:ext cx="11009376" cy="0"/>
          </a:xfrm>
          <a:prstGeom prst="line">
            <a:avLst/>
          </a:prstGeom>
          <a:ln w="8890">
            <a:solidFill>
              <a:srgbClr val="2636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5216" y="6556248"/>
            <a:ext cx="3657600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9DAEC2"/>
                </a:solidFill>
                <a:latin typeface="Aptos"/>
              </a:rPr>
              <a:t>BINVISION   /   PS-1B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09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399032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Potential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92807"/>
            <a:ext cx="4352544" cy="621792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066543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1965960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Identify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1984248"/>
            <a:ext cx="23134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Make item types easier to recognize.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697479"/>
            <a:ext cx="4352544" cy="621792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871215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2770632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2304" y="2788920"/>
            <a:ext cx="23134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Show category, confidence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502152"/>
            <a:ext cx="4352544" cy="621792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3675888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61872" y="3575304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2304" y="3593592"/>
            <a:ext cx="23134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Offer practical, contextual advice.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306824"/>
            <a:ext cx="4352544" cy="621792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232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480560"/>
            <a:ext cx="256032" cy="256032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4379976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2304" y="4398264"/>
            <a:ext cx="231343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Use analysis summaries to inform next steps.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1399032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Next steps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77840" y="1938528"/>
            <a:ext cx="96012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79" y="20345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1961388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1929384"/>
            <a:ext cx="40965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Connect and validate model output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35040" y="2304288"/>
            <a:ext cx="0" cy="530352"/>
          </a:xfrm>
          <a:prstGeom prst="line">
            <a:avLst/>
          </a:prstGeom>
          <a:ln w="15240">
            <a:solidFill>
              <a:srgbClr val="35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577840" y="2871216"/>
            <a:ext cx="96012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79" y="2967228"/>
            <a:ext cx="82296" cy="82296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2894076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38C5C0"/>
                </a:solidFill>
                <a:latin typeface="Aptos"/>
              </a:rPr>
              <a:t>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4848" y="2862072"/>
            <a:ext cx="40965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Expand reviewed classes and guidance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35040" y="3236976"/>
            <a:ext cx="0" cy="530352"/>
          </a:xfrm>
          <a:prstGeom prst="line">
            <a:avLst/>
          </a:prstGeom>
          <a:ln w="15240">
            <a:solidFill>
              <a:srgbClr val="35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577840" y="3803904"/>
            <a:ext cx="960120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79" y="3899916"/>
            <a:ext cx="82296" cy="82296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3826764"/>
            <a:ext cx="68580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7AA7FF"/>
                </a:solidFill>
                <a:latin typeface="Aptos"/>
              </a:rPr>
              <a:t>LATER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3794760"/>
            <a:ext cx="4096512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Aptos"/>
              </a:rPr>
              <a:t>Explore campus and municipal analytics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513832"/>
            <a:ext cx="10753344" cy="475488"/>
          </a:xfrm>
          <a:prstGeom prst="roundRect">
            <a:avLst>
              <a:gd name="adj" fmla="val 12000"/>
            </a:avLst>
          </a:prstGeom>
          <a:solidFill>
            <a:srgbClr val="13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5614416"/>
            <a:ext cx="114300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45D6A1"/>
                </a:solidFill>
                <a:latin typeface="Aptos"/>
              </a:rPr>
              <a:t>DETECT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50008" y="5733288"/>
            <a:ext cx="448056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862072" y="5614416"/>
            <a:ext cx="1426464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38C5C0"/>
                </a:solidFill>
                <a:latin typeface="Aptos"/>
              </a:rPr>
              <a:t>UNDERSTAND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462272" y="5733288"/>
            <a:ext cx="438912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992624" y="5614416"/>
            <a:ext cx="1207008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3BE5E"/>
                </a:solidFill>
                <a:latin typeface="Aptos"/>
              </a:rPr>
              <a:t>EDUCATE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73368" y="5733288"/>
            <a:ext cx="429768" cy="0"/>
          </a:xfrm>
          <a:prstGeom prst="line">
            <a:avLst/>
          </a:prstGeom>
          <a:ln w="1651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94576" y="5614416"/>
            <a:ext cx="1188720" cy="2103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7AA7FF"/>
                </a:solidFill>
                <a:latin typeface="Aptos"/>
              </a:rPr>
              <a:t>IMPROVE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117336"/>
            <a:ext cx="914400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1">
                <a:solidFill>
                  <a:srgbClr val="9DAEC2"/>
                </a:solidFill>
                <a:latin typeface="Aptos"/>
              </a:rPr>
              <a:t>Potential outcomes only  ·  No physical diversion or tonnage has been measured.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19872" y="694944"/>
            <a:ext cx="3291840" cy="3291840"/>
          </a:xfrm>
          <a:prstGeom prst="roundRect">
            <a:avLst>
              <a:gd name="adj" fmla="val 12000"/>
            </a:avLst>
          </a:prstGeom>
          <a:solidFill>
            <a:srgbClr val="102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39912" y="978408"/>
            <a:ext cx="26060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THE BINVISION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49056" y="1591056"/>
            <a:ext cx="768096" cy="731520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50808" y="17465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7AA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94776" y="2011680"/>
            <a:ext cx="67665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5F8FC"/>
                </a:solidFill>
                <a:latin typeface="Aptos"/>
              </a:rPr>
              <a:t>UPLOAD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226296" y="1956816"/>
            <a:ext cx="91440" cy="0"/>
          </a:xfrm>
          <a:prstGeom prst="line">
            <a:avLst/>
          </a:prstGeom>
          <a:ln w="1524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326880" y="1591056"/>
            <a:ext cx="768096" cy="731520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28632" y="17465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38C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72600" y="2011680"/>
            <a:ext cx="67665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5F8FC"/>
                </a:solidFill>
                <a:latin typeface="Aptos"/>
              </a:rPr>
              <a:t>DETECT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104119" y="1956816"/>
            <a:ext cx="91440" cy="0"/>
          </a:xfrm>
          <a:prstGeom prst="line">
            <a:avLst/>
          </a:prstGeom>
          <a:ln w="15240">
            <a:solidFill>
              <a:srgbClr val="38C5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204704" y="1591056"/>
            <a:ext cx="768096" cy="731520"/>
          </a:xfrm>
          <a:prstGeom prst="roundRect">
            <a:avLst>
              <a:gd name="adj" fmla="val 12000"/>
            </a:avLst>
          </a:prstGeom>
          <a:solidFill>
            <a:srgbClr val="111C2D"/>
          </a:solidFill>
          <a:ln w="12700">
            <a:solidFill>
              <a:srgbClr val="294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06456" y="1746504"/>
            <a:ext cx="164592" cy="164592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50424" y="2011680"/>
            <a:ext cx="676656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700" b="1" i="0">
                <a:solidFill>
                  <a:srgbClr val="F5F8FC"/>
                </a:solidFill>
                <a:latin typeface="Aptos"/>
              </a:rPr>
              <a:t>SORT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49056" y="2798064"/>
            <a:ext cx="768096" cy="35661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86216" y="29077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2852928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45D6A1"/>
                </a:solidFill>
                <a:latin typeface="Aptos"/>
              </a:rPr>
              <a:t>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2798064"/>
            <a:ext cx="768096" cy="35661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29077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74351" y="2852928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3BE5E"/>
                </a:solidFill>
                <a:latin typeface="Aptos"/>
              </a:rPr>
              <a:t>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04704" y="2798064"/>
            <a:ext cx="768096" cy="356616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41864" y="29077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52176" y="2852928"/>
            <a:ext cx="201168" cy="14630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FF727C"/>
                </a:solidFill>
                <a:latin typeface="Aptos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731520"/>
            <a:ext cx="6309360" cy="7315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400" b="1" i="0">
                <a:solidFill>
                  <a:srgbClr val="F5F8FC"/>
                </a:solidFill>
                <a:latin typeface="Aptos"/>
              </a:rPr>
              <a:t>BINVISION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1645920"/>
            <a:ext cx="6675120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 i="0">
                <a:solidFill>
                  <a:srgbClr val="F5F8FC"/>
                </a:solidFill>
                <a:latin typeface="Aptos"/>
              </a:rPr>
              <a:t>See Waste. Understand Waste.
Sort Smarter.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3081528"/>
            <a:ext cx="813816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45D6A1"/>
                </a:solidFill>
                <a:latin typeface="Aptos"/>
              </a:rPr>
              <a:t>Upload  →  Detect  →  Classify  →  Analyze  →  Ask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922776"/>
            <a:ext cx="7223760" cy="3657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38C5C0"/>
                </a:solidFill>
                <a:latin typeface="Aptos"/>
              </a:rPr>
              <a:t>Turning waste images into actionable intelligence.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4681728"/>
            <a:ext cx="1490472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7824" y="47777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45D6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3" y="4704588"/>
            <a:ext cx="121615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45D6A1"/>
                </a:solidFill>
                <a:latin typeface="Aptos"/>
              </a:rPr>
              <a:t>RECYCLABLE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4681728"/>
            <a:ext cx="1490472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7777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3B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97480" y="4704588"/>
            <a:ext cx="121615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3BE5E"/>
                </a:solidFill>
                <a:latin typeface="Aptos"/>
              </a:rPr>
              <a:t>ORGANIC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1376" y="4681728"/>
            <a:ext cx="1490472" cy="283464"/>
          </a:xfrm>
          <a:prstGeom prst="roundRect">
            <a:avLst>
              <a:gd name="adj" fmla="val 12000"/>
            </a:avLst>
          </a:prstGeom>
          <a:solidFill>
            <a:srgbClr val="152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42816" y="4777740"/>
            <a:ext cx="82296" cy="82296"/>
          </a:xfrm>
          <a:prstGeom prst="roundRect">
            <a:avLst>
              <a:gd name="adj" fmla="val 12000"/>
            </a:avLst>
          </a:prstGeom>
          <a:solidFill>
            <a:srgbClr val="FF7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9976" y="4704588"/>
            <a:ext cx="1216151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FF727C"/>
                </a:solidFill>
                <a:latin typeface="Aptos"/>
              </a:rPr>
              <a:t>HAZARDOUS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5724144"/>
            <a:ext cx="557784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9DAEC2"/>
                </a:solidFill>
                <a:latin typeface="Aptos"/>
              </a:rPr>
              <a:t>Team: [TEAM NAME]   ·   [MEMBER NAMES]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" y="6044184"/>
            <a:ext cx="694944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9DAEC2"/>
                </a:solidFill>
                <a:latin typeface="Aptos"/>
              </a:rPr>
              <a:t>Demo / GitHub: [ADD LINK]     QR: [ADD IF AVAILABLE]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537960"/>
            <a:ext cx="7772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/>
            <a:r>
              <a:rPr sz="800" b="1" i="0">
                <a:solidFill>
                  <a:srgbClr val="9DAEC2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